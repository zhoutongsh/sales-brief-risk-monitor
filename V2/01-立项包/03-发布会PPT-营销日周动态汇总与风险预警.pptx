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10" Type="http://schemas.openxmlformats.org/officeDocument/2006/relationships/viewProps" Target="viewProps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7" Type="http://schemas.openxmlformats.org/officeDocument/2006/relationships/notesMaster" Target="notesMasters/notesMaster1.xml" /><Relationship Id="rId8" Type="http://schemas.openxmlformats.org/officeDocument/2006/relationships/presProps" Target="presProps.xml" /><Relationship Id="rId9" Type="http://schemas.openxmlformats.org/officeDocument/2006/relationships/tableStyles" Target="tableStyle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&#10;    width: '1280px',&#10;    height: '720px',&#10;    padding: '60px',&#10;    fontFamily: 'Microsoft YaHei',&#10;    background: 'linear-gradient(135deg, #060B18 0%, #10265F 52%, #2563EB 100%)',&#10;    position: 'relative',&#10;}}&gt;&#10;    &lt;Box style={{ position: 'absolute', top: -20, right: -20, width: 300, height: 300, borderRadius: 150, background: 'linear-gradient(135deg, #06B6D4 0%, #2563EB 100%)', opacity: 0.2 }} /&gt;&#10;    &lt;Box style={{ position: 'absolute', bottom: 10, right: 30, width: 150, height: 150, borderRadius: 75, border: '2px solid #38BDF8', opacity: 0.35 }} /&gt;&#10;&#10;    &lt;Box style={{ width: '100%', height: '100%', justifyContent: 'space-between', position: 'relative', zIndex: 2 }}&gt;&#10;        &lt;Box style={{ gap: 18 }}&gt;&#10;            &lt;Text style={{ fontSize: 16, color: '#22D3EE', letterSpacing: 4, lineHeight: 1.5 }}&gt;PRODUCT LAUNCH · 2026&lt;/Text&gt;&#10;            &lt;Box style={{ width: 96, height: 4, borderRadius: 2, background: '#F59E0B' }} /&gt;&#10;        &lt;/Box&gt;&#10;&#10;        &lt;Box style={{ gap: 24 }}&gt;&#10;            &lt;Text style={{ fontSize: 58, fontWeight: 'bold', color: '#FFFFFF', lineHeight: 1.2 }}&gt;营销日周动态汇总与风险预警&lt;/Text&gt;&#10;            &lt;Box style={{ width: '100%', height: 1, background: 'rgba(255,255,255,0.35)' }} /&gt;&#10;            &lt;Text style={{ fontSize: 26, color: '#BFDBFE', lineHeight: 1.4 }}&gt;让营销动态自动汇总，让营销风险提前报警&lt;/Text&gt;&#10;            &lt;Box style={{ flexDirection: 'row', gap: 16 }}&gt;&#10;                &lt;Box style={{ padding: '8px 20px', borderRadius: 8, border: '1px solid rgba(255,255,255,0.45)' }}&gt;&#10;                    &lt;Text style={{ fontSize: 16, color: '#E0F2FE', lineHeight: 1.5 }}&gt;自动汇总&lt;/Text&gt;&#10;                &lt;/Box&gt;&#10;                &lt;Box style={{ padding: '8px 20px', borderRadius: 8, border: '1px solid rgba(255,255,255,0.45)' }}&gt;&#10;                    &lt;Text style={{ fontSize: 16, color: '#E0F2FE', lineHeight: 1.5 }}&gt;全景透视&lt;/Text&gt;&#10;                &lt;/Box&gt;&#10;                &lt;Box style={{ padding: '8px 20px', borderRadius: 8, border: '1px solid rgba(255,255,255,0.45)' }}&gt;&#10;                    &lt;Text style={{ fontSize: 16, color: '#E0F2FE', lineHeight: 1.5 }}&gt;实时预警&lt;/Text&gt;&#10;                &lt;/Box&gt;&#10;            &lt;/Box&gt;&#10;        &lt;/Box&gt;&#10;&#10;        &lt;Box style={{ flexDirection: 'row', alignItems: 'center', gap: 14 }}&gt;&#10;            &lt;Text style={{ fontSize: 16, color: '#94A3B8', lineHeight: 1.5 }}&gt;发布单位：营销运营数字化小组&lt;/Text&gt;&#10;            &lt;Box style={{ width: 1, height: 16, background: 'rgba(255,255,255,0.3)' }} /&gt;&#10;            &lt;Text style={{ fontSize: 16, color: '#94A3B8', lineHeight: 1.5 }}&gt;发布日期：2026-10-25&lt;/Text&gt;&#10;            &lt;Box style={{ width: 1, height: 16, background: 'rgba(255,255,255,0.3)' }} /&gt;&#10;            &lt;Text style={{ fontSize: 16, color: '#F59E0B', lineHeight: 1.5 }}&gt;建议时长 25s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0B18"/>
              </a:gs>
              <a:gs pos="52000">
                <a:srgbClr val="10265F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525000" y="-190500"/>
            <a:ext cx="2857500" cy="2857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>
                  <a:alpha val="20000"/>
                </a:srgbClr>
              </a:gs>
              <a:gs pos="100000">
                <a:srgbClr val="2563EB">
                  <a:alpha val="2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10477500" y="5334000"/>
            <a:ext cx="1428750" cy="1428750"/>
          </a:xfrm>
          <a:prstGeom prst="roundRect">
            <a:avLst>
              <a:gd name="adj" fmla="val 50000"/>
            </a:avLst>
          </a:prstGeom>
          <a:ln w="25400">
            <a:solidFill>
              <a:srgbClr val="38BDF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 spc="300">
                <a:solidFill>
                  <a:srgbClr val="22D3EE"/>
                </a:solidFill>
                <a:latin typeface="Microsoft YaHei"/>
                <a:ea typeface="Microsoft YaHei"/>
              </a:rPr>
              <a:t>PRODUCT LAUNCH · 2026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571500" y="1019175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71500" y="2362200"/>
            <a:ext cx="11049000" cy="800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营销日周动态汇总与风险预警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71500" y="3390900"/>
            <a:ext cx="11049000" cy="952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71500" y="3629025"/>
            <a:ext cx="110490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>
                <a:solidFill>
                  <a:srgbClr val="BFDBFE"/>
                </a:solidFill>
                <a:latin typeface="Microsoft YaHei"/>
                <a:ea typeface="Microsoft YaHei"/>
              </a:rPr>
              <a:t>让营销动态自动汇总，让营销风险提前报警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571500" y="4276725"/>
            <a:ext cx="990600" cy="428625"/>
          </a:xfrm>
          <a:prstGeom prst="roundRect">
            <a:avLst>
              <a:gd name="adj" fmla="val 17778"/>
            </a:avLst>
          </a:prstGeom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4352925"/>
            <a:ext cx="609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0F2FE"/>
                </a:solidFill>
                <a:latin typeface="Microsoft YaHei"/>
                <a:ea typeface="Microsoft YaHei"/>
              </a:rPr>
              <a:t>自动汇总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1714500" y="4276725"/>
            <a:ext cx="990600" cy="428625"/>
          </a:xfrm>
          <a:prstGeom prst="roundRect">
            <a:avLst>
              <a:gd name="adj" fmla="val 17778"/>
            </a:avLst>
          </a:prstGeom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905000" y="4352925"/>
            <a:ext cx="609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0F2FE"/>
                </a:solidFill>
                <a:latin typeface="Microsoft YaHei"/>
                <a:ea typeface="Microsoft YaHei"/>
              </a:rPr>
              <a:t>全景透视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2857500" y="4276725"/>
            <a:ext cx="990600" cy="428625"/>
          </a:xfrm>
          <a:prstGeom prst="roundRect">
            <a:avLst>
              <a:gd name="adj" fmla="val 17778"/>
            </a:avLst>
          </a:prstGeom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048000" y="4352925"/>
            <a:ext cx="609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0F2FE"/>
                </a:solidFill>
                <a:latin typeface="Microsoft YaHei"/>
                <a:ea typeface="Microsoft YaHei"/>
              </a:rPr>
              <a:t>实时预警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71500" y="6010275"/>
            <a:ext cx="2133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发布单位：营销运营数字化小组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2838450" y="6076950"/>
            <a:ext cx="9525" cy="1524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2981325" y="6010275"/>
            <a:ext cx="16097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发布日期：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2026-10-25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4724400" y="6076950"/>
            <a:ext cx="9525" cy="1524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867275" y="6010275"/>
            <a:ext cx="904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建议时长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 xml:space="preserve"> 25s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1" name="" descr="&lt;Slide style={{&#10;    width: '1280px',&#10;    height: '720px',&#10;    padding: '60px',&#10;    fontFamily: 'Microsoft YaHei',&#10;    background: '#F8FAFC',&#10;}}&gt;&#10;    &lt;Box style={{ width: '100%', height: '100%', gap: 24 }}&gt;&#10;        &lt;Box style={{ height: 60, borderRadius: 8, background: '#0F172A', flexDirection: 'row', alignItems: 'center', justifyContent: 'space-between', padding: '0 24px' }}&gt;&#10;            &lt;Text style={{ fontSize: 32, fontWeight: 'bold', color: '#FFFFFF', lineHeight: 1.2 }}&gt;为什么做 · 痛点与价值&lt;/Text&gt;&#10;            &lt;Text style={{ fontSize: 16, color: '#F59E0B', lineHeight: 1.5 }}&gt;建议时长 45s　|　2 / 6&lt;/Text&gt;&#10;        &lt;/Box&gt;&#10;&#10;        &lt;Box style={{ flexDirection: 'row', gap: 32, flex: 1 }}&gt;&#10;            &lt;Box style={{ flex: 1, gap: 22 }}&gt;&#10;                &lt;Box style={{ height: 46, borderRadius: 8, background: '#FEF2F2', flexDirection: 'row', alignItems: 'center', padding: '0 18px', gap: 12 }}&gt;&#10;                    &lt;Text style={{ fontSize: 22, fontWeight: 'bold', color: '#DC2626', lineHeight: 1.3 }}&gt;现状 · 三个难&lt;/Text&gt;&#10;                    &lt;Text style={{ fontSize: 16, color: '#DC2626', lineHeight: 1.5, opacity: 0.7 }}&gt;TODAY&lt;/Text&gt;&#10;                &lt;/Box&gt;&#10;                &lt;Box style={{ flex: 1, padding: '16px 18px', background: '#FFFFFF', border: '1px solid #E5E7EB', borderRadius: 8, gap: 10 }}&gt;&#10;                    &lt;Text style={{ fontSize: 22, fontWeight: 'bold', color: '#DC2626', lineHeight: 1.3 }}&gt;整理耗时&lt;/Text&gt;&#10;                    &lt;Text style={{ fontSize: 18, color: '#334155', lineHeight: 1.5 }}&gt;数据靠人工搬运，报表占用大量人力&lt;/Text&gt;&#10;                &lt;/Box&gt;&#10;                &lt;Box style={{ flex: 1, padding: '16px 18px', background: '#FFFFFF', border: '1px solid #E5E7EB', borderRadius: 8, gap: 10 }}&gt;&#10;                    &lt;Text style={{ fontSize: 22, fontWeight: 'bold', color: '#DC2626', lineHeight: 1.3 }}&gt;信息分散&lt;/Text&gt;&#10;                    &lt;Text style={{ fontSize: 18, color: '#334155', lineHeight: 1.5 }}&gt;投放、私域、电商各说各话，口径对不齐&lt;/Text&gt;&#10;                &lt;/Box&gt;&#10;                &lt;Box style={{ flex: 1, padding: '16px 18px', background: '#FFFFFF', border: '1px solid #E5E7EB', borderRadius: 8, gap: 10 }}&gt;&#10;                    &lt;Text style={{ fontSize: 22, fontWeight: 'bold', color: '#DC2626', lineHeight: 1.3 }}&gt;风险滞后&lt;/Text&gt;&#10;                    &lt;Text style={{ fontSize: 18, color: '#334155', lineHeight: 1.5 }}&gt;预算超支、转化下滑，月底复盘才暴露&lt;/Text&gt;&#10;                &lt;/Box&gt;&#10;            &lt;/Box&gt;&#10;&#10;            &lt;Box style={{ flex: 1, gap: 22 }}&gt;&#10;                &lt;Box style={{ height: 46, borderRadius: 8, background: '#EFF6FF', flexDirection: 'row', alignItems: 'center', padding: '0 18px', gap: 12 }}&gt;&#10;                    &lt;Text style={{ fontSize: 22, fontWeight: 'bold', color: '#2563EB', lineHeight: 1.3 }}&gt;产品 · 三个解&lt;/Text&gt;&#10;                    &lt;Text style={{ fontSize: 16, color: '#2563EB', lineHeight: 1.5, opacity: 0.7 }}&gt;SOLUTION&lt;/Text&gt;&#10;                &lt;/Box&gt;&#10;                &lt;Box style={{ flex: 1, padding: '16px 18px', background: '#FFFFFF', border: '1px solid #E5E7EB', borderRadius: 8, gap: 10 }}&gt;&#10;                    &lt;Text style={{ fontSize: 22, fontWeight: 'bold', color: '#2563EB', lineHeight: 1.3 }}&gt;自动汇总&lt;/Text&gt;&#10;                    &lt;Text style={{ fontSize: 18, color: '#334155', lineHeight: 1.5 }}&gt;多渠道数据一键聚合，日报周报自动生成&lt;/Text&gt;&#10;                &lt;/Box&gt;&#10;                &lt;Box style={{ flex: 1, padding: '16px 18px', background: '#FFFFFF', border: '1px solid #E5E7EB', borderRadius: 8, gap: 10 }}&gt;&#10;                    &lt;Text style={{ fontSize: 22, fontWeight: 'bold', color: '#2563EB', lineHeight: 1.3 }}&gt;全景透视&lt;/Text&gt;&#10;                    &lt;Text style={{ fontSize: 18, color: '#334155', lineHeight: 1.5 }}&gt;指标口径统一，营销动态一屏看全&lt;/Text&gt;&#10;                &lt;/Box&gt;&#10;                &lt;Box style={{ flex: 1, padding: '16px 18px', background: '#FFFFFF', border: '1px solid #E5E7EB', borderRadius: 8, gap: 10 }}&gt;&#10;                    &lt;Text style={{ fontSize: 22, fontWeight: 'bold', color: '#2563EB', lineHeight: 1.3 }}&gt;实时预警&lt;/Text&gt;&#10;                    &lt;Text style={{ fontSize: 18, color: '#334155', lineHeight: 1.5 }}&gt;异常自动识别分级推送，分钟级触达&lt;/Text&gt;&#10;                &lt;/Box&gt;&#10;            &lt;/Box&gt;&#10;        &lt;/Box&gt;&#10;&#10;        &lt;Box style={{ height: 54, borderRadius: 8, background: '#0F172A', flexDirection: 'row', alignItems: 'center', justifyContent: 'center', padding: '0 24px' }}&gt;&#10;            &lt;Text style={{ fontSize: 22, fontWeight: 'bold', color: '#FFFFFF', lineHeight: 1.3, textAlign: 'center' }}&gt;&#10;                我们做的，是把&lt;span style={{ color: '#F59E0B' }}&gt;「人找问题」&lt;/span&gt;变成&lt;span style={{ color: '#F59E0B' }}&gt;「问题找人」&lt;/span&gt;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571500" y="5715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00100" y="638175"/>
            <a:ext cx="306705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为什么做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痛点与价值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801225" y="723900"/>
            <a:ext cx="15906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建议时长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 xml:space="preserve"> 45s</a:t>
            </a: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>|</a:t>
            </a: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>2 / 6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71500" y="1371600"/>
            <a:ext cx="5372100" cy="438150"/>
          </a:xfrm>
          <a:prstGeom prst="roundRect">
            <a:avLst>
              <a:gd name="adj" fmla="val 17391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42950" y="1428750"/>
            <a:ext cx="12668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现状</a:t>
            </a:r>
            <a:r>
              <a:rPr lang="en-US" sz="1650" b="1">
                <a:solidFill>
                  <a:srgbClr val="DC262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三个难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571500" y="2019300"/>
            <a:ext cx="53721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42950" y="2171700"/>
            <a:ext cx="50292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整理耗时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42950" y="2600325"/>
            <a:ext cx="5029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数据靠人工搬运，报表占用大量人力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71500" y="3276600"/>
            <a:ext cx="53721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42950" y="3429000"/>
            <a:ext cx="50292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信息分散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42950" y="3857625"/>
            <a:ext cx="5029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投放、私域、电商各说各话，口径对不齐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571500" y="4533900"/>
            <a:ext cx="53721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42950" y="4686300"/>
            <a:ext cx="50292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DC2626"/>
                </a:solidFill>
                <a:latin typeface="Microsoft YaHei"/>
                <a:ea typeface="Microsoft YaHei"/>
              </a:rPr>
              <a:t>风险滞后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42950" y="5114925"/>
            <a:ext cx="5029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预算超支、转化下滑，月底复盘才暴露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248400" y="1371600"/>
            <a:ext cx="5372100" cy="438150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419850" y="1428750"/>
            <a:ext cx="12668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产品</a:t>
            </a: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三个解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248400" y="2019300"/>
            <a:ext cx="53721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419850" y="2171700"/>
            <a:ext cx="50292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自动汇总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419850" y="2600325"/>
            <a:ext cx="5029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多渠道数据一键聚合，日报周报自动生成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248400" y="3276600"/>
            <a:ext cx="53721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419850" y="3429000"/>
            <a:ext cx="50292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全景透视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419850" y="3857625"/>
            <a:ext cx="5029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指标口径统一，营销动态一屏看全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248400" y="4533900"/>
            <a:ext cx="53721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419850" y="4686300"/>
            <a:ext cx="50292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实时预警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419850" y="5114925"/>
            <a:ext cx="5029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异常自动识别分级推送，分钟级触达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571500" y="5810250"/>
            <a:ext cx="11049000" cy="514350"/>
          </a:xfrm>
          <a:prstGeom prst="roundRect">
            <a:avLst>
              <a:gd name="adj" fmla="val 1481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895725" y="5905500"/>
            <a:ext cx="4400550" cy="3333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我们做的，是把</a:t>
            </a:r>
            <a:r>
              <a:rPr lang="zh-CN" sz="1650" b="1">
                <a:solidFill>
                  <a:srgbClr val="F59E0B"/>
                </a:solidFill>
                <a:latin typeface="Microsoft YaHei"/>
                <a:ea typeface="Microsoft YaHei"/>
              </a:rPr>
              <a:t>「人找问题」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变成</a:t>
            </a:r>
            <a:r>
              <a:rPr lang="zh-CN" sz="1650" b="1">
                <a:solidFill>
                  <a:srgbClr val="F59E0B"/>
                </a:solidFill>
                <a:latin typeface="Microsoft YaHei"/>
                <a:ea typeface="Microsoft YaHei"/>
              </a:rPr>
              <a:t>「问题找人」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2124075" y="1457325"/>
            <a:ext cx="504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DC2626">
                    <a:alpha val="70000"/>
                  </a:srgbClr>
                </a:solidFill>
                <a:latin typeface="Microsoft YaHei"/>
                <a:ea typeface="Microsoft YaHei"/>
              </a:rPr>
              <a:t>TODAY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800975" y="1457325"/>
            <a:ext cx="7905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2563EB">
                    <a:alpha val="70000"/>
                  </a:srgbClr>
                </a:solidFill>
                <a:latin typeface="Microsoft YaHei"/>
                <a:ea typeface="Microsoft YaHei"/>
              </a:rPr>
              <a:t>SOLUTION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2" name="" descr="&lt;Slide style={{&#10;    width: '1280px',&#10;    height: '720px',&#10;    padding: '60px',&#10;    fontFamily: 'Microsoft YaHei',&#10;    background: '#F8FAFC',&#10;}}&gt;&#10;    &lt;Box style={{ width: '100%', height: '100%', gap: 24 }}&gt;&#10;        &lt;Box style={{ height: 60, borderRadius: 8, background: '#0F172A', flexDirection: 'row', alignItems: 'center', justifyContent: 'space-between', padding: '0 24px' }}&gt;&#10;            &lt;Text style={{ fontSize: 32, fontWeight: 'bold', color: '#FFFFFF', lineHeight: 1.2 }}&gt;怎么做 · 核心功能四步链&lt;/Text&gt;&#10;            &lt;Text style={{ fontSize: 16, color: '#F59E0B', lineHeight: 1.5 }}&gt;建议时长 55s　|　3 / 6&lt;/Text&gt;&#10;        &lt;/Box&gt;&#10;&#10;        &lt;Text style={{ fontSize: 18, color: '#475569', lineHeight: 1.5 }}&gt;一条链路跑通：数据自动进来 → 报告自动生成 → 风险自动识别 → 预警自动到人&lt;/Text&gt;&#10;&#10;        &lt;Box style={{ flexDirection: 'row', alignItems: 'stretch', gap: 12, flex: 1 }}&gt;&#10;            &lt;Box style={{ flex: 1, padding: '22px 18px', background: '#FFFFFF', border: '1px solid #E5E7EB', borderRadius: 8, justifyContent: 'space-between' }}&gt;&#10;                &lt;Box style={{ width: 48, height: 48, borderRadius: 8, background: '#2563EB', alignItems: 'center', justifyContent: 'center' }}&gt;&#10;                    &lt;Text style={{ fontSize: 22, fontWeight: 'bold', color: '#FFFFFF', lineHeight: 1.3 }}&gt;01&lt;/Text&gt;&#10;                &lt;/Box&gt;&#10;                &lt;Text style={{ fontSize: 22, fontWeight: 'bold', color: '#0F172A', lineHeight: 1.3 }}&gt;数据接入&lt;/Text&gt;&#10;                &lt;Text style={{ fontSize: 18, color: '#334155', lineHeight: 1.5 }}&gt;对接投放、电商、私域等营销数据源，抽取校验后自动入库；缺源文件立即标记失败并定位到具体指标&lt;/Text&gt;&#10;                &lt;Text style={{ fontSize: 16, color: '#2563EB', lineHeight: 1.4 }}&gt;关键产出：10 类源表统一抽取校验&lt;/Text&gt;&#10;            &lt;/Box&gt;&#10;&#10;            &lt;Box style={{ width: 30, alignItems: 'center', justifyContent: 'center' }}&gt;&#10;                &lt;Text style={{ fontSize: 22, fontWeight: 'bold', color: '#94A3B8', lineHeight: 1.3 }}&gt;→&lt;/Text&gt;&#10;            &lt;/Box&gt;&#10;&#10;            &lt;Box style={{ flex: 1, padding: '22px 18px', background: '#FFFFFF', border: '1px solid #E5E7EB', borderRadius: 8, justifyContent: 'space-between' }}&gt;&#10;                &lt;Box style={{ width: 48, height: 48, borderRadius: 8, background: '#2563EB', alignItems: 'center', justifyContent: 'center' }}&gt;&#10;                    &lt;Text style={{ fontSize: 22, fontWeight: 'bold', color: '#FFFFFF', lineHeight: 1.3 }}&gt;02&lt;/Text&gt;&#10;                &lt;/Box&gt;&#10;                &lt;Text style={{ fontSize: 22, fontWeight: 'bold', color: '#0F172A', lineHeight: 1.3 }}&gt;日周智能汇总&lt;/Text&gt;&#10;                &lt;Text style={{ fontSize: 18, color: '#334155', lineHeight: 1.5 }}&gt;按统一口径计算 12 项指标，日报每天 08:30 出、周报每周一 09:00 出，自动生成并直接发布&lt;/Text&gt;&#10;                &lt;Text style={{ fontSize: 16, color: '#2563EB', lineHeight: 1.4 }}&gt;关键产出：口径统一的日报与周报&lt;/Text&gt;&#10;            &lt;/Box&gt;&#10;&#10;            &lt;Box style={{ width: 30, alignItems: 'center', justifyContent: 'center' }}&gt;&#10;                &lt;Text style={{ fontSize: 22, fontWeight: 'bold', color: '#94A3B8', lineHeight: 1.3 }}&gt;→&lt;/Text&gt;&#10;            &lt;/Box&gt;&#10;&#10;            &lt;Box style={{ flex: 1, padding: '22px 18px', background: '#FFFFFF', border: '1px solid #E5E7EB', borderRadius: 8, justifyContent: 'space-between' }}&gt;&#10;                &lt;Box style={{ width: 48, height: 48, borderRadius: 8, background: '#06B6D4', alignItems: 'center', justifyContent: 'center' }}&gt;&#10;                    &lt;Text style={{ fontSize: 22, fontWeight: 'bold', color: '#FFFFFF', lineHeight: 1.3 }}&gt;03&lt;/Text&gt;&#10;                &lt;/Box&gt;&#10;                &lt;Text style={{ fontSize: 22, fontWeight: 'bold', color: '#0F172A', lineHeight: 1.3 }}&gt;风险识别&lt;/Text&gt;&#10;                &lt;Text style={{ fontSize: 18, color: '#334155', lineHeight: 1.5 }}&gt;6 类规则每日自动巡检，红橙黄三级判定，24 小时内同对象同规则合并，超时自动升级&lt;/Text&gt;&#10;                &lt;Text style={{ fontSize: 16, color: '#06B6D4', lineHeight: 1.4 }}&gt;关键产出：带证据链的风险清单&lt;/Text&gt;&#10;            &lt;/Box&gt;&#10;&#10;            &lt;Box style={{ width: 30, alignItems: 'center', justifyContent: 'center' }}&gt;&#10;                &lt;Text style={{ fontSize: 22, fontWeight: 'bold', color: '#F59E0B', lineHeight: 1.3 }}&gt;→&lt;/Text&gt;&#10;            &lt;/Box&gt;&#10;&#10;            &lt;Box style={{ flex: 1, padding: '22px 18px', background: '#FFFBEB', border: '2px solid #F59E0B', borderRadius: 8, justifyContent: 'space-between' }}&gt;&#10;                &lt;Box style={{ width: 48, height: 48, borderRadius: 8, background: '#F59E0B', alignItems: 'center', justifyContent: 'center' }}&gt;&#10;                    &lt;Text style={{ fontSize: 22, fontWeight: 'bold', color: '#FFFFFF', lineHeight: 1.3 }}&gt;04&lt;/Text&gt;&#10;                &lt;/Box&gt;&#10;                &lt;Text style={{ fontSize: 22, fontWeight: 'bold', color: '#92400E', lineHeight: 1.3 }}&gt;预警触达&lt;/Text&gt;&#10;                &lt;Text style={{ fontSize: 18, color: '#334155', lineHeight: 1.5 }}&gt;风险分级后按 SLA 推送到责任人，站内通知分钟级到达，认领、转派、关闭全流程闭环&lt;/Text&gt;&#10;                &lt;Text style={{ fontSize: 16, color: '#B45309', lineHeight: 1.4 }}&gt;关键产出：4 小时认领的闭环机制&lt;/Text&gt;&#10;            &lt;/Box&gt;&#10;        &lt;/Box&gt;&#10;&#10;        &lt;Box style={{ height: 88, borderRadius: 8, background: '#0F172A', padding: '18px 28px', justifyContent: 'center', gap: 8 }}&gt;&#10;            &lt;Text style={{ fontSize: 22, fontWeight: 'bold', color: '#FFFFFF', lineHeight: 1.3 }}&gt;四步全链路自动化，数据自动流转，风险不等复盘&lt;/Text&gt;&#10;            &lt;Text style={{ fontSize: 18, color: '#94A3B8', lineHeight: 1.5 }}&gt;红色 4 小时认领、橙色 8 小时、黄色 1 个工作日，超时自动升级，最多升 2 级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571500" y="5715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00100" y="638175"/>
            <a:ext cx="337185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怎么做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核心功能四步链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801225" y="723900"/>
            <a:ext cx="15906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建议时长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 xml:space="preserve"> 55s</a:t>
            </a: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>|</a:t>
            </a: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>3 / 6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1371600"/>
            <a:ext cx="110490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一条链路跑通：数据自动进来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报告自动生成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风险自动识别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预警自动到人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1500" y="1914525"/>
            <a:ext cx="2381250" cy="3305175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742950" y="212407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38200" y="2190750"/>
            <a:ext cx="266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42950" y="2590800"/>
            <a:ext cx="20383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数据接入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42950" y="2943225"/>
            <a:ext cx="2038350" cy="1543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对接投放、电商、私域等营销数据源，抽取校验后自动入库；缺源文件立即标记失败并定位到具体指标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42950" y="4495800"/>
            <a:ext cx="2038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2563EB"/>
                </a:solidFill>
                <a:latin typeface="Microsoft YaHei"/>
                <a:ea typeface="Microsoft YaHei"/>
              </a:rPr>
              <a:t>关键产出：</a:t>
            </a:r>
            <a:r>
              <a:rPr lang="en-US" sz="1200">
                <a:solidFill>
                  <a:srgbClr val="2563E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200">
                <a:solidFill>
                  <a:srgbClr val="2563EB"/>
                </a:solidFill>
                <a:latin typeface="Microsoft YaHei"/>
                <a:ea typeface="Microsoft YaHei"/>
              </a:rPr>
              <a:t>类源表统一抽取校验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105150" y="3400425"/>
            <a:ext cx="2095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sz="1650" b="1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467100" y="1914525"/>
            <a:ext cx="2371725" cy="3305175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3638550" y="212407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733800" y="2190750"/>
            <a:ext cx="266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638550" y="2695575"/>
            <a:ext cx="20288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日周智能汇总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638550" y="3143250"/>
            <a:ext cx="2028825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按统一口径计算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项指标，日报每天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08:30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出、周报每周一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09:00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出，自动生成并直接发布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638550" y="4495800"/>
            <a:ext cx="20288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2563EB"/>
                </a:solidFill>
                <a:latin typeface="Microsoft YaHei"/>
                <a:ea typeface="Microsoft YaHei"/>
              </a:rPr>
              <a:t>关键产出：口径统一的日报与周报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991225" y="3400425"/>
            <a:ext cx="2095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sz="1650" b="1">
                <a:solidFill>
                  <a:srgbClr val="94A3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353175" y="1914525"/>
            <a:ext cx="2381250" cy="3305175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524625" y="212407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619875" y="2190750"/>
            <a:ext cx="266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524625" y="2695575"/>
            <a:ext cx="20383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风险识别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524625" y="3143250"/>
            <a:ext cx="203835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类规则每日自动巡检，红橙黄三级判定，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小时内同对象同规则合并，超时自动升级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524625" y="4495800"/>
            <a:ext cx="2038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06B6D4"/>
                </a:solidFill>
                <a:latin typeface="Microsoft YaHei"/>
                <a:ea typeface="Microsoft YaHei"/>
              </a:rPr>
              <a:t>关键产出：带证据链的风险清单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886825" y="3400425"/>
            <a:ext cx="2095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9248775" y="1914525"/>
            <a:ext cx="2371725" cy="3305175"/>
          </a:xfrm>
          <a:prstGeom prst="roundRect">
            <a:avLst>
              <a:gd name="adj" fmla="val 3213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9420225" y="212407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515475" y="2190750"/>
            <a:ext cx="266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420225" y="2695575"/>
            <a:ext cx="20288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92400E"/>
                </a:solidFill>
                <a:latin typeface="Microsoft YaHei"/>
                <a:ea typeface="Microsoft YaHei"/>
              </a:rPr>
              <a:t>预警触达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420225" y="3143250"/>
            <a:ext cx="2028825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风险分级后按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SLA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推送到责任人，站内通知分钟级到达，认领、转派、关闭全流程闭环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420225" y="4495800"/>
            <a:ext cx="20288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B45309"/>
                </a:solidFill>
                <a:latin typeface="Microsoft YaHei"/>
                <a:ea typeface="Microsoft YaHei"/>
              </a:rPr>
              <a:t>关键产出：</a:t>
            </a:r>
            <a:r>
              <a:rPr lang="en-US" sz="1200">
                <a:solidFill>
                  <a:srgbClr val="B45309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200">
                <a:solidFill>
                  <a:srgbClr val="B45309"/>
                </a:solidFill>
                <a:latin typeface="Microsoft YaHei"/>
                <a:ea typeface="Microsoft YaHei"/>
              </a:rPr>
              <a:t>小时认领的闭环机制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571500" y="5448300"/>
            <a:ext cx="11049000" cy="83820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38200" y="5505450"/>
            <a:ext cx="105156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四步全链路自动化，数据自动流转，风险不等复盘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38200" y="5915025"/>
            <a:ext cx="105156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红色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小时认领、橙色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小时、黄色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个工作日，超时自动升级，最多升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级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88" name="" descr="&lt;Slide style={{&#10;    width: '1280px',&#10;    height: '720px',&#10;    padding: '60px',&#10;    fontFamily: 'Microsoft YaHei',&#10;    background: '#F8FAFC',&#10;}}&gt;&#10;    &lt;Box style={{ width: '100%', height: '100%', gap: 24 }}&gt;&#10;        &lt;Box style={{ height: 60, borderRadius: 8, background: '#0F172A', flexDirection: 'row', alignItems: 'center', justifyContent: 'space-between', padding: '0 24px' }}&gt;&#10;            &lt;Text style={{ fontSize: 32, fontWeight: 'bold', color: '#FFFFFF', lineHeight: 1.2 }}&gt;凭什么报警 · 六类风险规则&lt;/Text&gt;&#10;            &lt;Text style={{ fontSize: 16, color: '#F59E0B', lineHeight: 1.5 }}&gt;建议时长 30s　|　4 / 6&lt;/Text&gt;&#10;        &lt;/Box&gt;&#10;&#10;        &lt;Table&#10;            style={{ width: '100%', height: 420 }}&#10;            defaultTextStyle={{ fontSize: 18, textAlign: 'center', color: '#1E293B', lineHeight: 1.5 }}&#10;            defaultCellStyle={{&#10;                padding: '6px 12px',&#10;                border: {&#10;                    left: { width: 1, color: '#E5E7EB' },&#10;                    right: { width: 1, color: '#E5E7EB' },&#10;                    top: { width: 1, color: '#E5E7EB' },&#10;                    bottom: { width: 1, color: '#E5E7EB' },&#10;                },&#10;            }}&#10;            cells={[&#10;                [&#10;                    { text: '规则', textStyle: { bold: true, color: '#FFFFFF' }, cellStyle: { background: { color: '#0F172A' } } },&#10;                    { text: '触发条件（默认参数）', textStyle: { bold: true, color: '#FFFFFF' }, cellStyle: { background: { color: '#0F172A' } } },&#10;                    { text: '级别', textStyle: { bold: true, color: '#FFFFFF' }, cellStyle: { background: { color: '#0F172A' } } },&#10;                ],&#10;                [&#10;                    { text: '目标缺口', textStyle: { bold: true }, cellStyle: { background: { color: '#FFFFFF' } } },&#10;                    { text: '时间进度−完成率 ≥ 3 / 8 / 15 pct', cellStyle: { background: { color: '#FFFFFF' } } },&#10;                    { text: '黄 / 橙 / 红', textStyle: { bold: true, color: '#DC2626' }, cellStyle: { background: { color: '#FFFFFF' } } },&#10;                ],&#10;                [&#10;                    { text: '业绩下滑', textStyle: { bold: true }, cellStyle: { background: { color: '#F8FAFC' } } },&#10;                    { text: '连续两段环比降 ≥ 20% / 30%', cellStyle: { background: { color: '#F8FAFC' } } },&#10;                    { text: '橙 / 红', textStyle: { bold: true, color: '#DC2626' }, cellStyle: { background: { color: '#F8FAFC' } } },&#10;                ],&#10;                [&#10;                    { text: '线索异常', textStyle: { bold: true }, cellStyle: { background: { color: '#FFFFFF' } } },&#10;                    { text: '周环比 ≤ −30%；转化降 ≥ 20%', cellStyle: { background: { color: '#FFFFFF' } } },&#10;                    { text: '橙 / 黄', textStyle: { bold: true, color: '#F59E0B' }, cellStyle: { background: { color: '#FFFFFF' } } },&#10;                ],&#10;                [&#10;                    { text: '商机覆盖', textStyle: { bold: true }, cellStyle: { background: { color: '#F8FAFC' } } },&#10;                    { text: '管道 ÷ 剩余目标 &lt; 2.5 倍', cellStyle: { background: { color: '#F8FAFC' } } },&#10;                    { text: '橙', textStyle: { bold: true, color: '#F59E0B' }, cellStyle: { background: { color: '#F8FAFC' } } },&#10;                ],&#10;                [&#10;                    { text: '大客户流失', textStyle: { bold: true }, cellStyle: { background: { color: '#FFFFFF' } } },&#10;                    { text: '≥ 50 万且 ≥ 30 天未跟进', cellStyle: { background: { color: '#FFFFFF' } } },&#10;                    { text: '红', textStyle: { bold: true, color: '#DC2626' }, cellStyle: { background: { color: '#FFFFFF' } } },&#10;                ],&#10;                [&#10;                    { text: '订单 / 回款', textStyle: { bold: true }, cellStyle: { background: { color: '#F8FAFC' } } },&#10;                    { text: '单笔取消 ≥ 50 万或逾期 ≥ 30 天', cellStyle: { background: { color: '#F8FAFC' } } },&#10;                    { text: '红', textStyle: { bold: true, color: '#DC2626' }, cellStyle: { background: { color: '#F8FAFC' } } },&#10;                ],&#10;            ]}&#10;        /&gt;&#10;&#10;        &lt;Box style={{ height: 72, borderRadius: 8, background: '#FFFFFF', border: '1px solid #E5E7EB', flexDirection: 'row', alignItems: 'center', padding: '0 24px', gap: 16 }}&gt;&#10;            &lt;Text style={{ fontSize: 18, fontWeight: 'bold', color: '#0F172A', lineHeight: 1.5 }}&gt;SLA 认领时限&lt;/Text&gt;&#10;            &lt;Box style={{ padding: '7px 14px', borderRadius: 8, background: '#DC2626' }}&gt;&#10;                &lt;Text style={{ fontSize: 18, fontWeight: 'bold', color: '#FFFFFF', lineHeight: 1.4 }}&gt;红 · 4 小时&lt;/Text&gt;&#10;            &lt;/Box&gt;&#10;            &lt;Box style={{ padding: '7px 14px', borderRadius: 8, background: '#F59E0B' }}&gt;&#10;                &lt;Text style={{ fontSize: 18, fontWeight: 'bold', color: '#FFFFFF', lineHeight: 1.4 }}&gt;橙 · 8 小时&lt;/Text&gt;&#10;            &lt;/Box&gt;&#10;            &lt;Box style={{ padding: '7px 14px', borderRadius: 8, background: '#EAB308' }}&gt;&#10;                &lt;Text style={{ fontSize: 18, fontWeight: 'bold', color: '#713F12', lineHeight: 1.4 }}&gt;黄 · 1 个工作日&lt;/Text&gt;&#10;            &lt;/Box&gt;&#10;            &lt;Text style={{ fontSize: 16, color: '#64748B', lineHeight: 1.5 }}&gt;超时自动升级，最多升 2 级；24 小时内同对象同规则合并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571500" y="5715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00100" y="638175"/>
            <a:ext cx="367665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凭什么报警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六类风险规则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801225" y="723900"/>
            <a:ext cx="15906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建议时长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 xml:space="preserve"> 30s</a:t>
            </a: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>|</a:t>
            </a: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>4 / 6</a:t>
            </a:r>
            <a:endParaRPr/>
          </a:p>
        </p:txBody>
      </p:sp>
      <p:graphicFrame>
        <p:nvGraphicFramePr>
          <p:cNvPr id="93" name=""/>
          <p:cNvGraphicFramePr/>
          <p:nvPr/>
        </p:nvGraphicFramePr>
        <p:xfrm rot="0" flipH="0" flipV="0">
          <a:off x="571500" y="1371600"/>
          <a:ext cx="11049000" cy="4000500"/>
        </p:xfrm>
        <a:graphic>
          <a:graphicData uri="http://schemas.openxmlformats.org/drawingml/2006/table">
            <a:tbl>
              <a:tblGrid>
                <a:gridCol w="2296601">
                  <a:extLst>
                    <a:ext uri="{9D8B030D-6E8A-4147-A177-3AD203B41FA5}">
                      <a16:colId val="1"/>
                    </a:ext>
                  </a:extLst>
                </a:gridCol>
                <a:gridCol w="6433194">
                  <a:extLst>
                    <a:ext uri="{9D8B030D-6E8A-4147-A177-3AD203B41FA5}">
                      <a16:colId val="2"/>
                    </a:ext>
                  </a:extLst>
                </a:gridCol>
                <a:gridCol w="2319205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触发条件（默认参数）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级别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目标缺口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时间进度−完成率 ≥ 3 / 8 / 15 pct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</a:rPr>
                        <a:t>黄 / 橙 / 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业绩下滑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连续两段环比降 ≥ 20% / 30%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</a:rPr>
                        <a:t>橙 / 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线索异常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周环比 ≤ −30%；转化降 ≥ 20%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</a:rPr>
                        <a:t>橙 / 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商机覆盖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管道 ÷ 剩余目标 &lt; 2.5 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</a:rPr>
                        <a:t>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大客户流失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≥ 50 万且 ≥ 30 天未跟进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</a:rPr>
                        <a:t>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715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订单 / 回款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单笔取消 ≥ 50 万或逾期 ≥ 30 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</a:rPr>
                        <a:t>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94" name=""/>
          <p:cNvSpPr/>
          <p:nvPr/>
        </p:nvSpPr>
        <p:spPr>
          <a:xfrm rot="0" flipH="0" flipV="0">
            <a:off x="571500" y="56007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00100" y="5791200"/>
            <a:ext cx="10763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SLA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认领时限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2028825" y="5734050"/>
            <a:ext cx="1123950" cy="428625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2162175" y="5800725"/>
            <a:ext cx="8572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红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4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305175" y="5734050"/>
            <a:ext cx="1123950" cy="428625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438525" y="5800725"/>
            <a:ext cx="8572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橙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8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4581525" y="5734050"/>
            <a:ext cx="1466850" cy="428625"/>
          </a:xfrm>
          <a:prstGeom prst="roundRect">
            <a:avLst>
              <a:gd name="adj" fmla="val 17778"/>
            </a:avLst>
          </a:prstGeom>
          <a:solidFill>
            <a:srgbClr val="EAB308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714875" y="5800725"/>
            <a:ext cx="12001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713F12"/>
                </a:solidFill>
                <a:latin typeface="Microsoft YaHei"/>
                <a:ea typeface="Microsoft YaHei"/>
              </a:rPr>
              <a:t>黄</a:t>
            </a:r>
            <a:r>
              <a:rPr lang="en-US" sz="1350" b="1">
                <a:solidFill>
                  <a:srgbClr val="713F12"/>
                </a:solidFill>
                <a:latin typeface="Microsoft YaHei"/>
                <a:ea typeface="Microsoft YaHei"/>
              </a:rPr>
              <a:t xml:space="preserve"> · 1 </a:t>
            </a:r>
            <a:r>
              <a:rPr lang="zh-CN" sz="1350" b="1">
                <a:solidFill>
                  <a:srgbClr val="713F12"/>
                </a:solidFill>
                <a:latin typeface="Microsoft YaHei"/>
                <a:ea typeface="Microsoft YaHei"/>
              </a:rPr>
              <a:t>个工作日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200775" y="5810250"/>
            <a:ext cx="39147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超时自动升级，最多升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级；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小时内同对象同规则合并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03" name="" descr="&lt;Slide style={{&#13;&#10;    width: '1280px',&#13;&#10;    height: '720px',&#13;&#10;    padding: '60px',&#13;&#10;    fontFamily: 'Microsoft YaHei',&#13;&#10;    background: '#F8FAFC',&#13;&#10;}}&gt;&#13;&#10;    &lt;Box style={{ width: '100%', height: '100%', gap: 24 }}&gt;&#13;&#10;        &lt;Box style={{ height: 60, borderRadius: 8, background: '#0F172A', flexDirection: 'row', alignItems: 'center', justifyContent: 'space-between', padding: '0 24px' }}&gt;&#13;&#10;            &lt;Text style={{ fontSize: 32, fontWeight: 'bold', color: '#FFFFFF', lineHeight: 1.2 }}&gt;跑得怎么样 · MVP 实证成果&lt;/Text&gt;&#13;&#10;            &lt;Text style={{ fontSize: 16, color: '#F59E0B', lineHeight: 1.5 }}&gt;建议时长 40s　|　5 / 6&lt;/Text&gt;&#13;&#10;        &lt;/Box&gt;&#13;&#10;&#13;&#10;        &lt;Box style={{ height: 52, borderRadius: 8, background: '#EFF6FF', border: '1px solid #BFDBFE', flexDirection: 'row', alignItems: 'center', padding: '0 24px', gap: 16 }}&gt;&#13;&#10;            &lt;Box style={{ padding: '7px 14px', borderRadius: 8, background: '#2563EB' }}&gt;&#13;&#10;                &lt;Text style={{ fontSize: 18, fontWeight: 'bold', color: '#FFFFFF', lineHeight: 1.4 }}&gt;验收结论&lt;/Text&gt;&#13;&#10;            &lt;/Box&gt;&#13;&#10;            &lt;Text style={{ fontSize: 16, color: '#334155', lineHeight: 1.5 }}&gt;Gate C 通过（MVP 演示 / 试点范围，不等于生产验收）　·　验收日期 2026-10-24&lt;/Text&gt;&#13;&#10;        &lt;/Box&gt;&#13;&#10;&#13;&#10;        &lt;Box style={{ flex: 1, gap: 24 }}&gt;&#13;&#10;            &lt;Box style={{ flex: 1, flexDirection: 'row', gap: 24 }}&gt;&#13;&#10;            &lt;Box style={{ flex: 1, padding: '18px 18px', background: '#FFFFFF', border: '1px solid #E5E7EB', borderRadius: 8, justifyContent: 'space-between' }}&gt;&#13;&#10;                &lt;Text style={{ fontSize: 40, fontWeight: 'bold', color: '#2563EB', lineHeight: 1.2 }}&gt;33 项&lt;/Text&gt;&#13;&#10;                &lt;Text style={{ fontSize: 18, fontWeight: 'bold', color: '#0F172A', lineHeight: 1.4 }}&gt;端到端场景&lt;/Text&gt;&#13;&#10;                &lt;Text style={{ fontSize: 16, color: '#64748B', lineHeight: 1.4 }}&gt;从登录到完成业务动作，抽查全部通过&lt;/Text&gt;&#13;&#10;            &lt;/Box&gt;&#13;&#10;            &lt;Box style={{ flex: 1, padding: '18px 18px', background: '#FFFFFF', border: '1px solid #E5E7EB', borderRadius: 8, justifyContent: 'space-between' }}&gt;&#13;&#10;                &lt;Text style={{ fontSize: 40, fontWeight: 'bold', color: '#06B6D4', lineHeight: 1.2 }}&gt;52 项&lt;/Text&gt;&#13;&#10;                &lt;Text style={{ fontSize: 18, fontWeight: 'bold', color: '#0F172A', lineHeight: 1.4 }}&gt;4 角色权限&lt;/Text&gt;&#13;&#10;                &lt;Text style={{ fontSize: 16, color: '#64748B', lineHeight: 1.4 }}&gt;列表、详情、导出全部服务端过滤，通过率 100%&lt;/Text&gt;&#13;&#10;            &lt;/Box&gt;&#13;&#10;            &lt;Box style={{ flex: 1, padding: '18px 18px', background: '#FFFFFF', border: '1px solid #E5E7EB', borderRadius: 8, justifyContent: 'space-between' }}&gt;&#13;&#10;                &lt;Text style={{ fontSize: 40, fontWeight: 'bold', color: '#2563EB', lineHeight: 1.2 }}&gt;480 项&lt;/Text&gt;&#13;&#10;                &lt;Text style={{ fontSize: 18, fontWeight: 'bold', color: '#0F172A', lineHeight: 1.4 }}&gt;12 项指标复算&lt;/Text&gt;&#13;&#10;                &lt;Text style={{ fontSize: 16, color: '#64748B', lineHeight: 1.4 }}&gt;10 个工作日全量一致，金额误差 0 元&lt;/Text&gt;&#13;&#10;            &lt;/Box&gt;&#13;&#10;            &lt;Box style={{ flex: 1, padding: '18px 18px', background: '#FFFFFF', border: '1px solid #E5E7EB', borderRadius: 8, justifyContent: 'space-between' }}&gt;&#13;&#10;                &lt;Text style={{ fontSize: 40, fontWeight: 'bold', color: '#06B6D4', lineHeight: 1.2 }}&gt;10 条&lt;/Text&gt;&#13;&#10;                &lt;Text style={{ fontSize: 18, fontWeight: 'bold', color: '#0F172A', lineHeight: 1.4 }}&gt;预期风险对照&lt;/Text&gt;&#13;&#10;                &lt;Text style={{ fontSize: 16, color: '#64748B', lineHeight: 1.4 }}&gt;类别、级别、对象、负责人、金额逐条一致&lt;/Text&gt;&#13;&#10;            &lt;/Box&gt;&#13;&#10;            &lt;/Box&gt;&#13;&#10;&#13;&#10;            &lt;Box style={{ flex: 1, flexDirection: 'row', gap: 24 }}&gt;&#13;&#10;            &lt;Box style={{ flex: 1, padding: '18px 18px', background: '#FFFFFF', border: '1px solid #E5E7EB', borderRadius: 8, justifyContent: 'space-between' }}&gt;&#13;&#10;                &lt;Text style={{ fontSize: 40, fontWeight: 'bold', color: '#2563EB', lineHeight: 1.2 }}&gt;100%&lt;/Text&gt;&#13;&#10;                &lt;Text style={{ fontSize: 18, fontWeight: 'bold', color: '#0F172A', lineHeight: 1.4 }}&gt;手机号邮箱脱敏&lt;/Text&gt;&#13;&#10;                &lt;Text style={{ fontSize: 16, color: '#64748B', lineHeight: 1.4 }}&gt;页面、导出表格、打印页均无完整号码&lt;/Text&gt;&#13;&#10;            &lt;/Box&gt;&#13;&#10;            &lt;Box style={{ flex: 1, padding: '18px 18px', background: '#FFFFFF', border: '1px solid #E5E7EB', borderRadius: 8, justifyContent: 'space-between' }}&gt;&#13;&#10;                &lt;Text style={{ fontSize: 40, fontWeight: 'bold', color: '#06B6D4', lineHeight: 1.2 }}&gt;3 次&lt;/Text&gt;&#13;&#10;                &lt;Text style={{ fontSize: 18, fontWeight: 'bold', color: '#0F172A', lineHeight: 1.4 }}&gt;幂等重跑&lt;/Text&gt;&#13;&#10;                &lt;Text style={{ fontSize: 16, color: '#64748B', lineHeight: 1.4 }}&gt;同日重复跑批三次，结果完全一致&lt;/Text&gt;&#13;&#10;            &lt;/Box&gt;&#13;&#10;            &lt;Box style={{ flex: 1, padding: '18px 18px', background: '#FFFFFF', border: '1px solid #E5E7EB', borderRadius: 8, justifyContent: 'space-between' }}&gt;&#13;&#10;                &lt;Text style={{ fontSize: 40, fontWeight: 'bold', color: '#2563EB', lineHeight: 1.2 }}&gt;0.11 s&lt;/Text&gt;&#13;&#10;                &lt;Text style={{ fontSize: 18, fontWeight: 'bold', color: '#0F172A', lineHeight: 1.4 }}&gt;从零初始化&lt;/Text&gt;&#13;&#10;                &lt;Text style={{ fontSize: 16, color: '#64748B', lineHeight: 1.4 }}&gt;建库、造数、跑批、启动服务一次成型&lt;/Text&gt;&#13;&#10;            &lt;/Box&gt;&#13;&#10;            &lt;Box style={{ flex: 1, padding: '18px 18px', background: '#FFFFFF', border: '1px solid #E5E7EB', borderRadius: 8, justifyContent: 'space-between' }}&gt;&#13;&#10;                &lt;Text style={{ fontSize: 40, fontWeight: 'bold', color: '#06B6D4', lineHeight: 1.2 }}&gt;0&lt;/Text&gt;&#13;&#10;                &lt;Text style={{ fontSize: 18, fontWeight: 'bold', color: '#0F172A', lineHeight: 1.4 }}&gt;P0 / P1 / P2 缺陷&lt;/Text&gt;&#13;&#10;                &lt;Text style={{ fontSize: 16, color: '#64748B', lineHeight: 1.4 }}&gt;遗留 P3 三项，不挡本轮演示&lt;/Text&gt;&#13;&#10;            &lt;/Box&gt;&#13;&#10;            &lt;/Box&gt;&#13;&#10;        &lt;/Box&gt;&#13;&#10;&#13;&#10;        &lt;Box style={{ height: 48, borderRadius: 8, background: '#FFFFFF', border: '1px solid #E5E7EB', flexDirection: 'row', alignItems: 'center', padding: '0 24px' }}&gt;&#13;&#10;            &lt;Text style={{ fontSize: 16, color: '#64748B', lineHeight: 1.5 }}&gt;金额误差 0 元、比率误差 0 个百分点；未登录与越权全部拦截 —— 结论仅覆盖当前演示库与 PC Web 端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571500" y="5715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00100" y="638175"/>
            <a:ext cx="38862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跑得怎么样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MVP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实证成果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801225" y="723900"/>
            <a:ext cx="15906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建议时长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 xml:space="preserve"> 40s</a:t>
            </a: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>|</a:t>
            </a:r>
            <a:r>
              <a:rPr lang="zh-CN" sz="1200">
                <a:solidFill>
                  <a:srgbClr val="F59E0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F59E0B"/>
                </a:solidFill>
                <a:latin typeface="Microsoft YaHei"/>
                <a:ea typeface="Microsoft YaHei"/>
              </a:rPr>
              <a:t>5 / 6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571500" y="1371600"/>
            <a:ext cx="11049000" cy="495300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800100" y="1409700"/>
            <a:ext cx="952500" cy="428625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33450" y="1476375"/>
            <a:ext cx="6858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验收结论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905000" y="1485900"/>
            <a:ext cx="56673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Gate C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通过（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MVP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演示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试点范围，不等于生产验收）　·　验收日期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2026-10-24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571500" y="2095500"/>
            <a:ext cx="25908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42950" y="2266950"/>
            <a:ext cx="22479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33 </a:t>
            </a:r>
            <a:r>
              <a:rPr lang="zh-CN" sz="3000" b="1">
                <a:solidFill>
                  <a:srgbClr val="2563EB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42950" y="2819400"/>
            <a:ext cx="2247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端到端场景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42950" y="3114675"/>
            <a:ext cx="2247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从登录到完成业务动作，抽查全部通过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3390900" y="2095500"/>
            <a:ext cx="25908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562350" y="2266950"/>
            <a:ext cx="22479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06B6D4"/>
                </a:solidFill>
                <a:latin typeface="Microsoft YaHei"/>
                <a:ea typeface="Microsoft YaHei"/>
              </a:rPr>
              <a:t xml:space="preserve">52 </a:t>
            </a:r>
            <a:r>
              <a:rPr lang="zh-CN" sz="3000" b="1">
                <a:solidFill>
                  <a:srgbClr val="06B6D4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562350" y="2819400"/>
            <a:ext cx="2247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角色权限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562350" y="3114675"/>
            <a:ext cx="2247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列表、详情、导出全部服务端过滤，通过率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100%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210300" y="2095500"/>
            <a:ext cx="25908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381750" y="2266950"/>
            <a:ext cx="22479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480 </a:t>
            </a:r>
            <a:r>
              <a:rPr lang="zh-CN" sz="3000" b="1">
                <a:solidFill>
                  <a:srgbClr val="2563EB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381750" y="2819400"/>
            <a:ext cx="2247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项指标复算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381750" y="3114675"/>
            <a:ext cx="2247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个工作日全量一致，金额误差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元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9029700" y="2095500"/>
            <a:ext cx="25908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201150" y="2266950"/>
            <a:ext cx="22479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06B6D4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3000" b="1">
                <a:solidFill>
                  <a:srgbClr val="06B6D4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201150" y="2819400"/>
            <a:ext cx="2247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预期风险对照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201150" y="3114675"/>
            <a:ext cx="2247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类别、级别、对象、负责人、金额逐条一致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71500" y="4029075"/>
            <a:ext cx="25908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42950" y="4200525"/>
            <a:ext cx="22479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42950" y="4752975"/>
            <a:ext cx="2247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手机号邮箱脱敏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42950" y="5048250"/>
            <a:ext cx="2247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页面、导出表格、打印页均无完整号码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3390900" y="4029075"/>
            <a:ext cx="25908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562350" y="4200525"/>
            <a:ext cx="22479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06B6D4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3000" b="1">
                <a:solidFill>
                  <a:srgbClr val="06B6D4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562350" y="4752975"/>
            <a:ext cx="2247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幂等重跑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562350" y="5048250"/>
            <a:ext cx="2247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同日重复跑批三次，结果完全一致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210300" y="4029075"/>
            <a:ext cx="25908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381750" y="4200525"/>
            <a:ext cx="22479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2563EB"/>
                </a:solidFill>
                <a:latin typeface="Microsoft YaHei"/>
                <a:ea typeface="Microsoft YaHei"/>
              </a:rPr>
              <a:t>0.11 s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381750" y="4752975"/>
            <a:ext cx="2247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从零初始化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381750" y="5048250"/>
            <a:ext cx="2247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建库、造数、跑批、启动服务一次成型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9029700" y="4029075"/>
            <a:ext cx="25908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201150" y="4200525"/>
            <a:ext cx="22479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06B6D4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201150" y="4886325"/>
            <a:ext cx="2247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P0 / P1 / P2 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缺陷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9201150" y="5305425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遗留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P3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三项，不挡本轮演示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71500" y="5962650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00100" y="6057900"/>
            <a:ext cx="7086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金额误差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元、比率误差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个百分点；未登录与越权全部拦截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结论仅覆盖当前演示库与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PC Web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端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46" name="" descr="&lt;Slide style={{&#10;    width: '1280px',&#10;    height: '720px',&#10;    padding: '60px',&#10;    fontFamily: 'Microsoft YaHei',&#10;    background: '#F8FAFC',&#10;}}&gt;&#10;    &lt;Box style={{ width: '100%', height: '100%', gap: 24 }}&gt;&#10;        &lt;Box style={{ height: 60, borderRadius: 8, background: '#0F172A', flexDirection: 'row', alignItems: 'center', justifyContent: 'space-between', padding: '0 24px' }}&gt;&#10;            &lt;Text style={{ fontSize: 32, fontWeight: 'bold', color: '#FFFFFF', lineHeight: 1.2 }}&gt;接下来 · 收尾与路线图&lt;/Text&gt;&#10;            &lt;Text style={{ fontSize: 18, color: '#F59E0B', lineHeight: 1.5 }}&gt;建议时长 25s　|　6 / 6&lt;/Text&gt;&#10;        &lt;/Box&gt;&#10;&#10;        &lt;Box style={{ height: 100, borderRadius: 8, background: '#0F172A', justifyContent: 'center', padding: '0 32px' }}&gt;&#10;            &lt;Text style={{ fontSize: 40, fontWeight: 'bold', color: '#FFFFFF', lineHeight: 1.3 }}&gt;&#10;                让每一分营销投入，都在&lt;span style={{ color: '#F59E0B' }}&gt;掌控之中&lt;/span&gt;&#10;            &lt;/Text&gt;&#10;        &lt;/Box&gt;&#10;&#10;        &lt;Box style={{ flexDirection: 'row', gap: 24, flex: 1 }}&gt;&#10;            &lt;Box style={{ flex: 1, padding: '22px 22px', background: '#FFFFFF', border: '1px solid #E5E7EB', borderRadius: 8, justifyContent: 'space-between' }}&gt;&#10;                &lt;Box style={{ padding: '6px 14px', borderRadius: 8, background: '#2563EB', alignSelf: 'flex-start' }}&gt;&#10;                    &lt;Text style={{ fontSize: 22, fontWeight: 'bold', color: '#FFFFFF', lineHeight: 1.3 }}&gt;近期 · 定时调度与真实推送&lt;/Text&gt;&#10;                &lt;/Box&gt;&#10;                &lt;Text style={{ fontSize: 18, color: '#334155', lineHeight: 1.5 }}&gt;补上每日 08:00 前跑完的定时任务；把站内通知换成 IM、邮件的真实推送&lt;/Text&gt;&#10;                &lt;Text style={{ fontSize: 18, color: '#2563EB', lineHeight: 1.5 }}&gt;上线前必补：定时调度与真实推送通道，含失败横幅优化&lt;/Text&gt;&#10;            &lt;/Box&gt;&#10;&#10;            &lt;Box style={{ flex: 1, padding: '22px 22px', background: '#FFFFFF', border: '1px solid #E5E7EB', borderRadius: 8, justifyContent: 'space-between' }}&gt;&#10;                &lt;Box style={{ padding: '6px 14px', borderRadius: 8, background: '#06B6D4', alignSelf: 'flex-start' }}&gt;&#10;                    &lt;Text style={{ fontSize: 22, fontWeight: 'bold', color: '#FFFFFF', lineHeight: 1.3 }}&gt;中期 · 对接真实 CRM / ERP&lt;/Text&gt;&#10;                &lt;/Box&gt;&#10;                &lt;Text style={{ fontSize: 18, color: '#334155', lineHeight: 1.5 }}&gt;按 10 类源表字段映射接入真实系统，用 30 天以上真实数据验证口径&lt;/Text&gt;&#10;                &lt;Text style={{ fontSize: 18, color: '#06B6D4', lineHeight: 1.5 }}&gt;试点期必补：真实数据源接入与组织级 ROI 口径校准&lt;/Text&gt;&#10;            &lt;/Box&gt;&#10;&#10;            &lt;Box style={{ flex: 1, padding: '22px 22px', background: '#FFFFFF', border: '1px solid #E5E7EB', borderRadius: 8, justifyContent: 'space-between' }}&gt;&#10;                &lt;Box style={{ padding: '6px 14px', borderRadius: 8, background: '#F59E0B', alignSelf: 'flex-start' }}&gt;&#10;                    &lt;Text style={{ fontSize: 22, fontWeight: 'bold', color: '#FFFFFF', lineHeight: 1.3 }}&gt;长期 · 12 条规则与移动端&lt;/Text&gt;&#10;                &lt;/Box&gt;&#10;                &lt;Text style={{ fontSize: 18, color: '#334155', lineHeight: 1.5 }}&gt;风险规则由 6 类扩到 12 条以上，补齐手机端、并发能力与数据留存&lt;/Text&gt;&#10;                &lt;Text style={{ fontSize: 18, color: '#B45309', lineHeight: 1.5 }}&gt;规模化必补：规则扩展、移动端与 50 并发、12 个月留存&lt;/Text&gt;&#10;            &lt;/Box&gt;&#10;        &lt;/Box&gt;&#10;&#10;        &lt;Box style={{ height: 84, borderRadius: 8, background: '#2563EB', padding: '20px 32px', justifyContent: 'center', gap: 8 }}&gt;&#10;            &lt;Text style={{ fontSize: 22, fontWeight: 'bold', color: '#FFFFFF', lineHeight: 1.3 }}&gt;营销日周动态汇总与风险预警，今天正式发布&lt;/Text&gt;&#10;            &lt;Text style={{ fontSize: 18, color: '#DBEAFE', lineHeight: 1.5 }}&gt;欢迎大家试用体验，用真实数据跑一遍 —— 谢谢！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571500" y="5715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00100" y="638175"/>
            <a:ext cx="306705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接下来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收尾与路线图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601200" y="704850"/>
            <a:ext cx="1790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F59E0B"/>
                </a:solidFill>
                <a:latin typeface="Microsoft YaHei"/>
                <a:ea typeface="Microsoft YaHei"/>
              </a:rPr>
              <a:t>建议时长</a:t>
            </a:r>
            <a:r>
              <a:rPr lang="en-US" sz="1350">
                <a:solidFill>
                  <a:srgbClr val="F59E0B"/>
                </a:solidFill>
                <a:latin typeface="Microsoft YaHei"/>
                <a:ea typeface="Microsoft YaHei"/>
              </a:rPr>
              <a:t xml:space="preserve"> 25s</a:t>
            </a:r>
            <a:r>
              <a:rPr lang="zh-CN" sz="1350">
                <a:solidFill>
                  <a:srgbClr val="F59E0B"/>
                </a:solidFill>
                <a:latin typeface="Microsoft YaHei"/>
                <a:ea typeface="Microsoft YaHei"/>
              </a:rPr>
              <a:t>　</a:t>
            </a:r>
            <a:r>
              <a:rPr lang="en-US" sz="1350">
                <a:solidFill>
                  <a:srgbClr val="F59E0B"/>
                </a:solidFill>
                <a:latin typeface="Microsoft YaHei"/>
                <a:ea typeface="Microsoft YaHei"/>
              </a:rPr>
              <a:t>|</a:t>
            </a:r>
            <a:r>
              <a:rPr lang="zh-CN" sz="1350">
                <a:solidFill>
                  <a:srgbClr val="F59E0B"/>
                </a:solidFill>
                <a:latin typeface="Microsoft YaHei"/>
                <a:ea typeface="Microsoft YaHei"/>
              </a:rPr>
              <a:t>　</a:t>
            </a:r>
            <a:r>
              <a:rPr lang="en-US" sz="1350">
                <a:solidFill>
                  <a:srgbClr val="F59E0B"/>
                </a:solidFill>
                <a:latin typeface="Microsoft YaHei"/>
                <a:ea typeface="Microsoft YaHei"/>
              </a:rPr>
              <a:t>6 / 6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571500" y="1371600"/>
            <a:ext cx="11049000" cy="9525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76300" y="1552575"/>
            <a:ext cx="1043940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让每一分营销投入，都在</a:t>
            </a:r>
            <a:r>
              <a:rPr lang="zh-CN" sz="3000" b="1">
                <a:solidFill>
                  <a:srgbClr val="F59E0B"/>
                </a:solidFill>
                <a:latin typeface="Microsoft YaHei"/>
                <a:ea typeface="Microsoft YaHei"/>
              </a:rPr>
              <a:t>掌控之中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571500" y="2552700"/>
            <a:ext cx="3533775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781050" y="2762250"/>
            <a:ext cx="2790825" cy="447675"/>
          </a:xfrm>
          <a:prstGeom prst="roundRect">
            <a:avLst>
              <a:gd name="adj" fmla="val 17021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14400" y="2819400"/>
            <a:ext cx="25241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近期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定时调度与真实推送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81050" y="3514725"/>
            <a:ext cx="31146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补上每日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08:00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前跑完的定时任务；把站内通知换成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IM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、邮件的真实推送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81050" y="4429125"/>
            <a:ext cx="31146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2563EB"/>
                </a:solidFill>
                <a:latin typeface="Microsoft YaHei"/>
                <a:ea typeface="Microsoft YaHei"/>
              </a:rPr>
              <a:t>上线前必补：定时调度与真实推送通道，含失败横幅优化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333875" y="2552700"/>
            <a:ext cx="352425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4543425" y="2762250"/>
            <a:ext cx="2943225" cy="447675"/>
          </a:xfrm>
          <a:prstGeom prst="roundRect">
            <a:avLst>
              <a:gd name="adj" fmla="val 17021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676775" y="2819400"/>
            <a:ext cx="26765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中期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对接真实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CRM / ERP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543425" y="3514725"/>
            <a:ext cx="31051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按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类源表字段映射接入真实系统，用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天以上真实数据验证口径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543425" y="4429125"/>
            <a:ext cx="31051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06B6D4"/>
                </a:solidFill>
                <a:latin typeface="Microsoft YaHei"/>
                <a:ea typeface="Microsoft YaHei"/>
              </a:rPr>
              <a:t>试点期必补：真实数据源接入与组织级</a:t>
            </a:r>
            <a:r>
              <a:rPr lang="en-US" sz="1350">
                <a:solidFill>
                  <a:srgbClr val="06B6D4"/>
                </a:solidFill>
                <a:latin typeface="Microsoft YaHei"/>
                <a:ea typeface="Microsoft YaHei"/>
              </a:rPr>
              <a:t xml:space="preserve"> ROI </a:t>
            </a:r>
            <a:r>
              <a:rPr lang="zh-CN" sz="1350">
                <a:solidFill>
                  <a:srgbClr val="06B6D4"/>
                </a:solidFill>
                <a:latin typeface="Microsoft YaHei"/>
                <a:ea typeface="Microsoft YaHei"/>
              </a:rPr>
              <a:t>口径校准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8086725" y="2552700"/>
            <a:ext cx="3533775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8296275" y="2762250"/>
            <a:ext cx="2695575" cy="447675"/>
          </a:xfrm>
          <a:prstGeom prst="roundRect">
            <a:avLst>
              <a:gd name="adj" fmla="val 17021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429625" y="2819400"/>
            <a:ext cx="242887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长期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12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条规则与移动端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296275" y="3514725"/>
            <a:ext cx="31146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风险规则由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类扩到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条以上，补齐手机端、并发能力与数据留存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296275" y="4429125"/>
            <a:ext cx="31146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规模化必补：规则扩展、移动端与</a:t>
            </a:r>
            <a:r>
              <a:rPr lang="en-US" sz="1350">
                <a:solidFill>
                  <a:srgbClr val="B45309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并发、</a:t>
            </a:r>
            <a:r>
              <a:rPr lang="en-US" sz="1350">
                <a:solidFill>
                  <a:srgbClr val="B45309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个月留存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71500" y="5486400"/>
            <a:ext cx="11049000" cy="800100"/>
          </a:xfrm>
          <a:prstGeom prst="roundRect">
            <a:avLst>
              <a:gd name="adj" fmla="val 9524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76300" y="5524500"/>
            <a:ext cx="10439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营销日周动态汇总与风险预警，今天正式发布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76300" y="5934075"/>
            <a:ext cx="104394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欢迎大家试用体验，用真实数据跑一遍</a:t>
            </a:r>
            <a:r>
              <a:rPr lang="en-US" sz="1350">
                <a:solidFill>
                  <a:srgbClr val="DBEAFE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谢谢！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2026-10-25T11:42:35Z</dcterms:created>
  <dcterms:modified xsi:type="dcterms:W3CDTF">2026-10-25T11:42:35Z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{"AIGC":{"Label":"1","ContentProducer":"00119111010856365494821B355","ProduceID":"c67c791846cd40f29901f66f4923deea","ReservedCode1":"","ContentPropagator":"00119111010856365494821B355","PropagateID":"c67c791846cd40f29901f66f4923deea","ReservedCode2":""}}</vt:lpwstr>
  </property>
</Properties>
</file>