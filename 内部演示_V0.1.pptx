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6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noFill/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3291840"/>
            <a:ext cx="2743200" cy="2743200"/>
          </a:xfrm>
          <a:prstGeom prst="ellipse">
            <a:avLst/>
          </a:prstGeom>
          <a:noFill/>
          <a:ln w="12700">
            <a:solidFill>
              <a:srgbClr val="3E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863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营销日周动态汇总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与风险预警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内部演示 · 30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7132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D6E2EE"/>
                </a:solidFill>
                <a:latin typeface="微软雅黑"/>
                <a:ea typeface="微软雅黑"/>
                <a:cs typeface="微软雅黑"/>
              </a:rPr>
              <a:t>把分散的销售数据，变成每天能看、有人管、能关闭的经营简报。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A3F57"/>
          </a:solidFill>
          <a:ln w="12700">
            <a:solidFill>
              <a:srgbClr val="3E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485546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PC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48006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A3F57"/>
          </a:solidFill>
          <a:ln w="12700">
            <a:solidFill>
              <a:srgbClr val="3E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40280" y="485546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类角色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8006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A3F57"/>
          </a:solidFill>
          <a:ln w="12700">
            <a:solidFill>
              <a:srgbClr val="3E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57600" y="485546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类风险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MVP V0.1  |  演示数据 2026-10-24  |  Gate C 通过（演示/试点范围）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B8C4D0"/>
                </a:solidFill>
                <a:latin typeface="微软雅黑"/>
                <a:ea typeface="微软雅黑"/>
                <a:cs typeface="微软雅黑"/>
              </a:rPr>
              <a:t>营销日周动态汇总与风险预警 · 内部演示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B8C4D0"/>
                </a:solidFill>
                <a:latin typeface="微软雅黑"/>
                <a:ea typeface="微软雅黑"/>
                <a:cs typeface="微软雅黑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为什么现在做这件事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把“看数据”变成“管风险”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22960" y="16642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现在的痛点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数据分散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日报靠人拼，口径不一致，管理者看到的是昨天的世界。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30752"/>
            <a:ext cx="3063240" cy="18288"/>
          </a:xfrm>
          <a:prstGeom prst="roundRect">
            <a:avLst>
              <a:gd name="adj" fmla="val 8000"/>
            </a:avLst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913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做了以后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2452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一屏看清目标、签约、回款、线索和风险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不用再等别人拼日报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41732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572000" y="16642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0" y="170992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现在的痛点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风险发现晚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517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等周会才发现客户要丢，动作总是慢半拍。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730752"/>
            <a:ext cx="3063240" cy="18288"/>
          </a:xfrm>
          <a:prstGeom prst="roundRect">
            <a:avLst>
              <a:gd name="adj" fmla="val 8000"/>
            </a:avLst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0" y="3913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做了以后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2452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6 类风险自动触发，带证据、责任人和时限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920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从“感觉不对”到“有据可查”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141732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321040" y="16642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21040" y="170992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现在的痛点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031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处理没闭环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517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口头答应，没人跟踪，下次开会还是老问题。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730752"/>
            <a:ext cx="3063240" cy="18288"/>
          </a:xfrm>
          <a:prstGeom prst="roundRect">
            <a:avLst>
              <a:gd name="adj" fmla="val 8000"/>
            </a:avLst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39136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做了以后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2452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认领、转派、关闭全程留痕，超时自动升级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8920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每件事最后都有人负责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806440"/>
            <a:ext cx="11064240" cy="47548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91616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目标：管理者 5 分钟看清全貌；高风险 4 小时内有人认领。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营销日周动态汇总与风险预警 · 内部演示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产品怎么跑通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从源文件到风险闭环，一条链路跑到底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566928" y="1481328"/>
            <a:ext cx="2788920" cy="86868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0078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个源文件</a:t>
            </a:r>
          </a:p>
        </p:txBody>
      </p:sp>
      <p:sp>
        <p:nvSpPr>
          <p:cNvPr id="7" name="Chevron 6"/>
          <p:cNvSpPr/>
          <p:nvPr/>
        </p:nvSpPr>
        <p:spPr>
          <a:xfrm>
            <a:off x="3264408" y="1481328"/>
            <a:ext cx="2788920" cy="868680"/>
          </a:xfrm>
          <a:prstGeom prst="chevron">
            <a:avLst/>
          </a:prstGeom>
          <a:solidFill>
            <a:srgbClr val="2E6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70078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项指标</a:t>
            </a:r>
          </a:p>
        </p:txBody>
      </p:sp>
      <p:sp>
        <p:nvSpPr>
          <p:cNvPr id="9" name="Chevron 8"/>
          <p:cNvSpPr/>
          <p:nvPr/>
        </p:nvSpPr>
        <p:spPr>
          <a:xfrm>
            <a:off x="5961888" y="1481328"/>
            <a:ext cx="2788920" cy="868680"/>
          </a:xfrm>
          <a:prstGeom prst="chevron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70078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类风险</a:t>
            </a:r>
          </a:p>
        </p:txBody>
      </p:sp>
      <p:sp>
        <p:nvSpPr>
          <p:cNvPr id="11" name="Chevron 10"/>
          <p:cNvSpPr/>
          <p:nvPr/>
        </p:nvSpPr>
        <p:spPr>
          <a:xfrm>
            <a:off x="8659368" y="1481328"/>
            <a:ext cx="2788920" cy="868680"/>
          </a:xfrm>
          <a:prstGeom prst="chevron">
            <a:avLst/>
          </a:prstGeom>
          <a:solidFill>
            <a:srgbClr val="3A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170078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类角色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日常闭环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15468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327355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日报/周报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2461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0632" y="315468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70632" y="327355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认领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2461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46904" y="315468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46904" y="327355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转派/升级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32461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23176" y="315468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23176" y="327355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关闭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32461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9448" y="3154680"/>
            <a:ext cx="178308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99448" y="327355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审计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25196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43708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5262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项核心指标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79" y="425196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11879" y="43708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262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类经营风险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25196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0" y="43708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5262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类管理角色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425196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89720" y="43708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45262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条演示风险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65099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日报 08:30  ·  周报周一 09:00  ·  只做 PC Web  ·  风险超时最多升 2 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营销日周动态汇总与风险预警 · 内部演示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现场演示路线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20 分钟看四件事：简报、风险、角色、周报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4406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thumb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54480"/>
            <a:ext cx="2240280" cy="1393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72968" y="16459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今日简报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1768" y="16276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01768" y="167335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2–6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210312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3 条结论 + 6 张指标卡 + 风险前三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788920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提示：先不滚动，让观众看清首屏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71600"/>
            <a:ext cx="54406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thumb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54480"/>
            <a:ext cx="2240280" cy="13939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05672" y="16459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风险详情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34472" y="16276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634472" y="167335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6–9 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10312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证据链 + SLA + 处理时间线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788920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提示：这里不认领，留给部门经理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30752"/>
            <a:ext cx="54406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thumb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13632"/>
            <a:ext cx="2240280" cy="13939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72968" y="400507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角色切换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1768" y="398678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01768" y="403250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9–14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446227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总经理 10 条 → 部门经理 1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5148072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提示：认领填计划；关闭填原因、动作、结果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730752"/>
            <a:ext cx="54406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thumb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13632"/>
            <a:ext cx="2240280" cy="13939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05672" y="400507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周报复盘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34472" y="398678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634472" y="403250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14–17 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446227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本周/上周 + 排名 + 风险闭环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5148072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提示：切到上周，再切回本周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路线：总经理看全貌 → 部门经理处理 → 回总经理看闭环/审计；最后 3 分钟看规则与质量。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营销日周动态汇总与风险预警 · 内部演示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已经验证到什么程度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通过（MVP 演示/试点范围），不等于生产验收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26517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84/84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自动化检查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371600"/>
            <a:ext cx="26517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38728" y="148132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20/20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0116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业务场景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371600"/>
            <a:ext cx="26517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27648" y="148132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480/480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0116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指标复算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371600"/>
            <a:ext cx="26517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16567" y="148132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0116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P0 / P1 / 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已经验证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4 类角色权限矩阵 100% 通过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387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手机号/邮箱脱敏 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227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10 条预期风险全部对上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068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6 类风险全部能触发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908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同日重跑 3 次幂等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认领/转派/关闭/审计闭环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788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还不是生产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15468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没有定时调度器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5661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没接真实 CRM/ERP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9776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没有真实钉钉/企微推送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3891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6 类 / 8 条件，12 条下一版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8006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没有 12 个月留存与 50 并发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742432"/>
            <a:ext cx="10652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结论：可以按本轮范围做内部演示和试点；上生产前先补定时器、12 条规则、真实数据对接。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营销日周动态汇总与风险预警 · 内部演示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下一步：先演示，再试点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从一场演示，走到真实数据试点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35661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77393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内部演示（今天）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确认业务愿不愿意用、哪里不顺手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要什么：业务反馈清单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417320"/>
            <a:ext cx="35661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90288" y="1645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90288" y="177393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77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10 个工作日试点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889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真实数据，验证准确率、认领率、闭环率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29184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要什么：10 个工作日真实数据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417320"/>
            <a:ext cx="35661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357615" y="1645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E6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5" y="177393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377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生产准备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27889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定时调度、统一登录、真实推送、数据库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329184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要什么：IT 排期与资源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69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今天只定三件事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80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54456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517136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是否进入试点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83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504748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020056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试点数据谁提供、谁对接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486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550408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522976"/>
            <a:ext cx="7589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下一版先补 12 条规则 + 定时调度，还是先接真实系统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041648"/>
            <a:ext cx="27432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8280" y="4169663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会后 24 小时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51713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把结论发到项目群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88289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确定数据对接人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524865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3650"/>
                </a:solidFill>
                <a:latin typeface="微软雅黑"/>
                <a:ea typeface="微软雅黑"/>
                <a:cs typeface="微软雅黑"/>
              </a:rPr>
              <a:t>•  重置演示数据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989320"/>
            <a:ext cx="11064240" cy="27432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94360" y="610819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A6B7A"/>
                </a:solidFill>
                <a:latin typeface="微软雅黑"/>
                <a:ea typeface="微软雅黑"/>
                <a:cs typeface="微软雅黑"/>
              </a:rPr>
              <a:t>建议：先用固定演示数据做一次 30 分钟内部演示，确认业务习惯，再决定是否进入真实数据试点。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营销日周动态汇总与风险预警 · 内部演示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8A99A8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